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29.jpg" ContentType="image/jpeg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18"/>
  </p:notesMasterIdLst>
  <p:handoutMasterIdLst>
    <p:handoutMasterId r:id="rId19"/>
  </p:handoutMasterIdLst>
  <p:sldIdLst>
    <p:sldId id="312" r:id="rId5"/>
    <p:sldId id="358" r:id="rId6"/>
    <p:sldId id="371" r:id="rId7"/>
    <p:sldId id="354" r:id="rId8"/>
    <p:sldId id="355" r:id="rId9"/>
    <p:sldId id="361" r:id="rId10"/>
    <p:sldId id="362" r:id="rId11"/>
    <p:sldId id="375" r:id="rId12"/>
    <p:sldId id="372" r:id="rId13"/>
    <p:sldId id="373" r:id="rId14"/>
    <p:sldId id="370" r:id="rId15"/>
    <p:sldId id="369" r:id="rId16"/>
    <p:sldId id="3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82D31-86EE-4039-87F3-E6294275AFC0}" v="6" dt="2025-01-08T08:34:43.3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79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8" name="Picture 7" descr="A picture containing text, plant&#10;&#10;Description automatically generated">
            <a:extLst>
              <a:ext uri="{FF2B5EF4-FFF2-40B4-BE49-F238E27FC236}">
                <a16:creationId xmlns:a16="http://schemas.microsoft.com/office/drawing/2014/main" id="{8733714E-02DE-8D14-B5C2-D098CB2B67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210" y="0"/>
            <a:ext cx="8392026" cy="68580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2CCA9FF-66CB-598A-18C4-97A84672F14A}"/>
              </a:ext>
            </a:extLst>
          </p:cNvPr>
          <p:cNvSpPr/>
          <p:nvPr userDrawn="1"/>
        </p:nvSpPr>
        <p:spPr>
          <a:xfrm>
            <a:off x="3300284" y="654912"/>
            <a:ext cx="5591432" cy="559143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F7E22B-242D-F0D8-3F67-5E6D3B4DEAE6}"/>
              </a:ext>
            </a:extLst>
          </p:cNvPr>
          <p:cNvCxnSpPr>
            <a:cxnSpLocks/>
          </p:cNvCxnSpPr>
          <p:nvPr userDrawn="1"/>
        </p:nvCxnSpPr>
        <p:spPr>
          <a:xfrm>
            <a:off x="4359876" y="4300155"/>
            <a:ext cx="347224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002C330B-A4D2-E3E1-31BB-20DA1C16B6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961" y="4157464"/>
            <a:ext cx="972078" cy="285381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090CB694-C98C-C08F-A5E0-4EA66C22641F}"/>
              </a:ext>
            </a:extLst>
          </p:cNvPr>
          <p:cNvSpPr/>
          <p:nvPr userDrawn="1"/>
        </p:nvSpPr>
        <p:spPr>
          <a:xfrm>
            <a:off x="3447535" y="807312"/>
            <a:ext cx="5296930" cy="529693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8E28CFE1-F21B-94A9-86A1-F6C17B698F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338" y="4814449"/>
            <a:ext cx="1668775" cy="16214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8C38EE-2BA3-44F1-2EDB-F0336BF294C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777" y="1164252"/>
            <a:ext cx="818801" cy="84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68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836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13447D-D274-DECA-3912-4FF50CD87059}"/>
              </a:ext>
            </a:extLst>
          </p:cNvPr>
          <p:cNvSpPr/>
          <p:nvPr userDrawn="1"/>
        </p:nvSpPr>
        <p:spPr>
          <a:xfrm>
            <a:off x="0" y="3377183"/>
            <a:ext cx="12192000" cy="2326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close up of a plant&#10;&#10;Description automatically generated with low confidence">
            <a:extLst>
              <a:ext uri="{FF2B5EF4-FFF2-40B4-BE49-F238E27FC236}">
                <a16:creationId xmlns:a16="http://schemas.microsoft.com/office/drawing/2014/main" id="{950E7924-1226-DDCC-865D-20F9FD485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87322" y="3187511"/>
            <a:ext cx="1422400" cy="5283200"/>
          </a:xfrm>
          <a:prstGeom prst="rect">
            <a:avLst/>
          </a:prstGeom>
        </p:spPr>
      </p:pic>
      <p:pic>
        <p:nvPicPr>
          <p:cNvPr id="9" name="Picture 8" descr="A picture containing bedclothes, fabric&#10;&#10;Description automatically generated">
            <a:extLst>
              <a:ext uri="{FF2B5EF4-FFF2-40B4-BE49-F238E27FC236}">
                <a16:creationId xmlns:a16="http://schemas.microsoft.com/office/drawing/2014/main" id="{AEB4FD00-78EE-22EF-540C-1636F0D01F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400022" y="287485"/>
            <a:ext cx="1485900" cy="5372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B315D22-0094-2721-EACF-6114528C937F}"/>
              </a:ext>
            </a:extLst>
          </p:cNvPr>
          <p:cNvSpPr/>
          <p:nvPr userDrawn="1"/>
        </p:nvSpPr>
        <p:spPr>
          <a:xfrm>
            <a:off x="232651" y="3633264"/>
            <a:ext cx="11740896" cy="17897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pic>
        <p:nvPicPr>
          <p:cNvPr id="11" name="Picture 10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1A8CADBB-75D9-20EF-4B75-87E0E0306B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0193">
            <a:off x="6957396" y="5090392"/>
            <a:ext cx="856832" cy="832525"/>
          </a:xfrm>
          <a:prstGeom prst="rect">
            <a:avLst/>
          </a:prstGeom>
        </p:spPr>
      </p:pic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9ECD8AD7-9086-DAC8-CF60-A3C85B63A6E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979" y="3252854"/>
            <a:ext cx="1206427" cy="62135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8A86103-BCCD-B955-5504-4C315C611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68" y="3977640"/>
            <a:ext cx="9884664" cy="7315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CAEAEB5-75C7-24A7-2F97-38360AF1D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3668" y="4700016"/>
            <a:ext cx="9884664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9645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EA995D-CD6B-3A27-B0F1-057F0755C763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64CA0D-D28C-4841-0D64-242391DA023E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81CB5C77-969E-B4BF-11E3-E2E9570B64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433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859866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F5F240-6F8D-3A3C-9BC1-7C6D48CD2041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4F890E-A25A-7B80-A6C2-4E3E343E1D40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DAF2DC0E-E996-72BC-D9CF-A1D4CB60BE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67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45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672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76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80623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924734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243518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0372822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643244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571440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367508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abric&#10;&#10;Description automatically generated">
            <a:extLst>
              <a:ext uri="{FF2B5EF4-FFF2-40B4-BE49-F238E27FC236}">
                <a16:creationId xmlns:a16="http://schemas.microsoft.com/office/drawing/2014/main" id="{ABAD6905-AD97-1EAF-A4A3-D0BB13B128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BCB4CA-03FB-81F4-F8A2-FA9C0DBDEB11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138EDBF7-FA56-2BF9-ECFA-6C39FEE8F8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9852" flipH="1">
            <a:off x="1760954" y="2048834"/>
            <a:ext cx="1230524" cy="22873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880" y="978408"/>
            <a:ext cx="37490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83880" y="2194560"/>
            <a:ext cx="3749040" cy="430682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0FE36A83-31CF-DF76-5708-55ED9FB707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5BF6365E-74A9-6D7B-5F20-7C29F290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5296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F45E1C-47F6-0AF9-7468-BA613D681E1D}"/>
              </a:ext>
            </a:extLst>
          </p:cNvPr>
          <p:cNvSpPr/>
          <p:nvPr userDrawn="1"/>
        </p:nvSpPr>
        <p:spPr>
          <a:xfrm>
            <a:off x="0" y="1533950"/>
            <a:ext cx="12192000" cy="379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abric&#10;&#10;Description automatically generated">
            <a:extLst>
              <a:ext uri="{FF2B5EF4-FFF2-40B4-BE49-F238E27FC236}">
                <a16:creationId xmlns:a16="http://schemas.microsoft.com/office/drawing/2014/main" id="{AB9E0D8B-7031-366D-884B-EB3FABD78C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56236" y="-1772981"/>
            <a:ext cx="2147050" cy="603966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859314F-DCEF-A5A7-C5D9-F0D39AAC9FFA}"/>
              </a:ext>
            </a:extLst>
          </p:cNvPr>
          <p:cNvSpPr/>
          <p:nvPr userDrawn="1"/>
        </p:nvSpPr>
        <p:spPr>
          <a:xfrm>
            <a:off x="225552" y="1796143"/>
            <a:ext cx="11740896" cy="32657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DAAE5EB8-5B6B-6FA6-E6E7-D2F58FDFB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307543" y="-287017"/>
            <a:ext cx="1051334" cy="3866771"/>
          </a:xfrm>
          <a:prstGeom prst="rect">
            <a:avLst/>
          </a:prstGeom>
        </p:spPr>
      </p:pic>
      <p:pic>
        <p:nvPicPr>
          <p:cNvPr id="19" name="Picture 18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BB1368FF-AA1B-4423-30B1-BE082E6F19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222" y="492338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456" y="2404872"/>
            <a:ext cx="8705088" cy="2002536"/>
          </a:xfrm>
        </p:spPr>
        <p:txBody>
          <a:bodyPr anchor="t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3454" y="3964517"/>
            <a:ext cx="8705089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F5E2B84E-B4F2-ED93-8084-ECFC3B9C38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49667" y="3189069"/>
            <a:ext cx="945473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FDD82133-EB75-7E07-A9CE-730CB7F6CD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184" y="2136567"/>
            <a:ext cx="941832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1787032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75868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6173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28309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3828270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63663" y="3926721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799" y="4286611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280672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16065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8201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733074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66331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68467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6871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68136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6424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6424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17">
            <a:extLst>
              <a:ext uri="{FF2B5EF4-FFF2-40B4-BE49-F238E27FC236}">
                <a16:creationId xmlns:a16="http://schemas.microsoft.com/office/drawing/2014/main" id="{B23EF08B-7D0C-7D96-413D-71C22E3F74D0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68136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19">
            <a:extLst>
              <a:ext uri="{FF2B5EF4-FFF2-40B4-BE49-F238E27FC236}">
                <a16:creationId xmlns:a16="http://schemas.microsoft.com/office/drawing/2014/main" id="{A6866782-6675-4F37-E5D2-68CB0191C1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06424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9F53AB27-DDFA-AA5D-8253-546C9BBA9CE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06424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22675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39312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39312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DD9CE7E9-3BC2-0321-457B-61D363708B38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422675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70DD1941-A469-A457-B987-E0E2C300A8A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39312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D6B84B7D-A7EC-6FE1-9925-F78AF0DE230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639312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77214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2200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A1AC2FE-336D-4E7F-2C86-6A8C29BA8F90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677214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FA370BF1-09EC-DBE1-5118-8A92A0F90BC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72200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5089D72C-E865-F5D3-CB1E-050AEF68445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172200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317533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705088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05088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17">
            <a:extLst>
              <a:ext uri="{FF2B5EF4-FFF2-40B4-BE49-F238E27FC236}">
                <a16:creationId xmlns:a16="http://schemas.microsoft.com/office/drawing/2014/main" id="{4F7ECA98-24CD-8CC5-A3EC-BFF5E9B11748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9317533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46CBECF2-D93E-3DF9-064C-CB4A3262B69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5088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71E06E16-A083-B853-8155-7FF97AD1DE8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05088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323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68407D-A1C4-B842-0C34-B2DE8AD312D3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AE7FB-DFC0-DCDA-47AD-6ED81A6427FA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7A4DFCBA-879E-D6C9-9F81-B4F9225423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62BF3-1BFC-6948-02E0-8A1C121C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8D7F8-0920-52BA-580D-0724912287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611EB-89A4-4C55-4032-4D0C418398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963F99-41C3-5ED4-AAD8-B904145CC7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75360" y="2615184"/>
            <a:ext cx="10241280" cy="33192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034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7EB7A-F5B6-E308-68EE-3065E2B039A6}"/>
              </a:ext>
            </a:extLst>
          </p:cNvPr>
          <p:cNvSpPr/>
          <p:nvPr userDrawn="1"/>
        </p:nvSpPr>
        <p:spPr>
          <a:xfrm>
            <a:off x="0" y="0"/>
            <a:ext cx="4873752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 descr="A close-up of a tree&#10;&#10;Description automatically generated with medium confidence">
            <a:extLst>
              <a:ext uri="{FF2B5EF4-FFF2-40B4-BE49-F238E27FC236}">
                <a16:creationId xmlns:a16="http://schemas.microsoft.com/office/drawing/2014/main" id="{FED57607-56F6-9FD5-F0A8-DE0BCFE89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66459" flipH="1">
            <a:off x="2282032" y="1589693"/>
            <a:ext cx="970220" cy="22361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72" y="978408"/>
            <a:ext cx="4974336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EF26CDF-94D4-BA22-7D14-8D3289040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1072" y="2322576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0017BF0C-B2B7-932F-A9AE-5BFAE4AB5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9612" y="2770632"/>
            <a:ext cx="5065776" cy="1554480"/>
          </a:xfrm>
        </p:spPr>
        <p:txBody>
          <a:bodyPr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DEAB8B47-DF86-7C9F-F027-2D4D22B2E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9612" y="4361688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9612" y="4791456"/>
            <a:ext cx="5065776" cy="1408176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8" name="Picture 37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5B08C513-7071-2499-7E9D-CFD5A027C0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9083" y="2260473"/>
            <a:ext cx="1245309" cy="2314810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D46E6E9-39FE-B605-0786-F7F7E656F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fabric&#10;&#10;Description automatically generated">
            <a:extLst>
              <a:ext uri="{FF2B5EF4-FFF2-40B4-BE49-F238E27FC236}">
                <a16:creationId xmlns:a16="http://schemas.microsoft.com/office/drawing/2014/main" id="{E0606CB6-3E28-F128-51B5-3786D7404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4BBC1B-7DD9-DA00-15CC-B446DA472005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C88A03B2-8C41-A023-CB90-5F79A1F01A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pic>
        <p:nvPicPr>
          <p:cNvPr id="10" name="Picture 9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9EA6110C-517A-C447-DB03-9A264F112F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809" y="1695833"/>
            <a:ext cx="1155700" cy="4318000"/>
          </a:xfrm>
          <a:prstGeom prst="rect">
            <a:avLst/>
          </a:prstGeom>
        </p:spPr>
      </p:pic>
      <p:pic>
        <p:nvPicPr>
          <p:cNvPr id="12" name="Picture 11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DC4249CD-2B45-A435-5B21-CFA7042138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49" y="381916"/>
            <a:ext cx="1155700" cy="431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A7568A0-F819-551E-4780-20A651246990}"/>
              </a:ext>
            </a:extLst>
          </p:cNvPr>
          <p:cNvSpPr/>
          <p:nvPr userDrawn="1"/>
        </p:nvSpPr>
        <p:spPr>
          <a:xfrm>
            <a:off x="1024128" y="2162946"/>
            <a:ext cx="3794760" cy="2536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11D903-56F9-B09B-0443-A76786804823}"/>
              </a:ext>
            </a:extLst>
          </p:cNvPr>
          <p:cNvSpPr/>
          <p:nvPr userDrawn="1"/>
        </p:nvSpPr>
        <p:spPr>
          <a:xfrm>
            <a:off x="1131655" y="2264499"/>
            <a:ext cx="3585549" cy="23354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91551-9B41-0ACF-0BE6-9D174E695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184" y="2889504"/>
            <a:ext cx="2852928" cy="108813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5D3FB1-678F-0A9A-CCB6-435CE57DA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1312" y="2011680"/>
            <a:ext cx="2999232" cy="2843784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 algn="l">
              <a:lnSpc>
                <a:spcPct val="150000"/>
              </a:lnSpc>
              <a:defRPr sz="20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 algn="ctr">
              <a:defRPr sz="16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824669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362110-9E75-C1E6-F3D3-769A27CB658B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E61109-4A99-6337-9E7D-6AE0370E2A33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13B4663F-72DF-CD37-DE9D-C35DFB37E8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48BE494-2D3C-A618-4422-6EA94969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B248-9F11-0A11-E6AF-776D371E14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EFD48A-F270-E4EE-7C35-F4304F3DDF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7DEB86-4C56-EB31-FEEE-EC8AA99FB456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19EDA-96E7-C255-DFF9-F36A187EBACD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FAD938FE-3B63-4832-B610-64346C069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B38128B-385C-B928-A4A8-BD98929D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887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68" r:id="rId17"/>
    <p:sldLayoutId id="2147483665" r:id="rId18"/>
    <p:sldLayoutId id="2147483660" r:id="rId19"/>
    <p:sldLayoutId id="2147483661" r:id="rId20"/>
    <p:sldLayoutId id="2147483666" r:id="rId21"/>
    <p:sldLayoutId id="2147483653" r:id="rId22"/>
    <p:sldLayoutId id="2147483667" r:id="rId23"/>
    <p:sldLayoutId id="2147483652" r:id="rId24"/>
    <p:sldLayoutId id="2147483654" r:id="rId25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jpg"/><Relationship Id="rId5" Type="http://schemas.openxmlformats.org/officeDocument/2006/relationships/image" Target="../media/image19.png"/><Relationship Id="rId10" Type="http://schemas.openxmlformats.org/officeDocument/2006/relationships/image" Target="../media/image24.jp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Thank_you_icon.jpg" TargetMode="Externa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44CEA0-2CB2-3722-1BB8-21D0B0ABE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1371" y="4950668"/>
            <a:ext cx="7361853" cy="1511559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43C50-6937-DD3E-B402-4ABB2469E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D731A3-1FFF-52EC-7BB4-365691EF0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980" y="136295"/>
            <a:ext cx="5894036" cy="182648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D3F99F-A7B0-6D3D-F459-582329F92E60}"/>
              </a:ext>
            </a:extLst>
          </p:cNvPr>
          <p:cNvSpPr txBox="1"/>
          <p:nvPr/>
        </p:nvSpPr>
        <p:spPr>
          <a:xfrm>
            <a:off x="848670" y="2082279"/>
            <a:ext cx="103371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IMAGE SUPER-RESOLUTION USING  DATA PREPROCESSING</a:t>
            </a:r>
          </a:p>
          <a:p>
            <a:pPr algn="ctr"/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 AND COMPUTER APPLICATIONS</a:t>
            </a:r>
          </a:p>
          <a:p>
            <a:pPr algn="ctr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DR.S.NYMATHULLA</a:t>
            </a:r>
          </a:p>
          <a:p>
            <a:pPr algn="ctr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K.CHAITANYA(211FA07097)</a:t>
            </a: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B.NITIN(211FA07139)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5A61B2-D76B-38C5-588C-159ED1CF16FC}"/>
              </a:ext>
            </a:extLst>
          </p:cNvPr>
          <p:cNvSpPr/>
          <p:nvPr/>
        </p:nvSpPr>
        <p:spPr>
          <a:xfrm>
            <a:off x="12790449" y="7616283"/>
            <a:ext cx="1739590" cy="52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201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D0863-C7FB-BBF0-9A54-01B8D1393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420B7-1F70-B21A-2238-E5768547B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19" y="395773"/>
            <a:ext cx="10515600" cy="785327"/>
          </a:xfrm>
        </p:spPr>
        <p:txBody>
          <a:bodyPr/>
          <a:lstStyle/>
          <a:p>
            <a:r>
              <a:rPr lang="en-IN" dirty="0">
                <a:solidFill>
                  <a:srgbClr val="161616"/>
                </a:solidFill>
              </a:rPr>
              <a:t>  INTRODUCTION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FD871D-E75C-33E7-1F66-DCFE873A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608" y="1069352"/>
            <a:ext cx="10355620" cy="5083759"/>
          </a:xfrm>
        </p:spPr>
        <p:txBody>
          <a:bodyPr>
            <a:normAutofit/>
          </a:bodyPr>
          <a:lstStyle/>
          <a:p>
            <a:pPr marL="12700" indent="0">
              <a:lnSpc>
                <a:spcPct val="100000"/>
              </a:lnSpc>
              <a:spcBef>
                <a:spcPts val="115"/>
              </a:spcBef>
              <a:buNone/>
              <a:tabLst>
                <a:tab pos="253365" algn="l"/>
              </a:tabLst>
            </a:pPr>
            <a:endParaRPr lang="en-US" sz="2000" b="1" dirty="0"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super-resolution (SR) enhances the resolution of low-resolution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High-resolution images are vital for analysis in medical, surveillance, and satellite imaging.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significantly impacts SR model performance and image clarity.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Super-Resolution has emerged as a key area in image processing. Preprocessing is the first and most essential step in building a successful SR pipeline because it improves the quality of input data before model training.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738AF-68C5-37DF-7D3A-0D23061A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272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17EB-4C43-FD36-7B65-74978C19E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64" y="111486"/>
            <a:ext cx="8596668" cy="1320800"/>
          </a:xfrm>
        </p:spPr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Basics of Image Super-Resolution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73512C-6DAA-D4F3-E3F5-6F0251A85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B362D6-96A6-BDB9-3324-88E8D8583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3B1B823-BB9C-63FE-46D2-FAC884458A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3400" y="1342469"/>
            <a:ext cx="9754291" cy="486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Image Super-Resolution?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Super-Resolution aims to recover a visually pleasing, high-quality image from a lower resolution version. This involves adding pixel-level details that may not exist in the original input by learning patterns from large datasets.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in Detail: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most commonly used due to its simplicity. It assumes a fixed scaling factor (e.g., 2×, 4×) and attempts to reconstruct the high-res version from one low-res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leverages redundancy across multiple images (e.g., successive video frames) to build a better estimate of the high-res scene.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Interpolation-Based Methods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Bicubic interpolation estimates missing pixels by averaging neighboring pixels.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are fast but produce blurry results due to the lack of learned context.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56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686D-ECE7-F2E4-49FE-F18DC31B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370" y="380999"/>
            <a:ext cx="10341430" cy="1099458"/>
          </a:xfrm>
        </p:spPr>
        <p:txBody>
          <a:bodyPr/>
          <a:lstStyle/>
          <a:p>
            <a:r>
              <a:rPr lang="en-US" dirty="0"/>
              <a:t>Basics of Image Super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1C616-FF55-08B3-E6AC-C638875F7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7" y="1547132"/>
            <a:ext cx="10740118" cy="492986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/>
              <a:t>Learning-Based Methods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SRCNN (Super-Resolution CNN)</a:t>
            </a:r>
            <a:r>
              <a:rPr lang="en-IN" dirty="0"/>
              <a:t>: First deep learning method for SR; takes a bicubic-</a:t>
            </a:r>
            <a:r>
              <a:rPr lang="en-IN" dirty="0" err="1"/>
              <a:t>upsampled</a:t>
            </a:r>
            <a:r>
              <a:rPr lang="en-IN" dirty="0"/>
              <a:t> image as input.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EDSR</a:t>
            </a:r>
            <a:r>
              <a:rPr lang="en-IN" dirty="0"/>
              <a:t> and </a:t>
            </a:r>
            <a:r>
              <a:rPr lang="en-IN" b="1" dirty="0"/>
              <a:t>RDN</a:t>
            </a:r>
            <a:r>
              <a:rPr lang="en-IN" dirty="0"/>
              <a:t> improve accuracy using deeper networks without pooling layers.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ESRGAN</a:t>
            </a:r>
            <a:r>
              <a:rPr lang="en-IN" dirty="0"/>
              <a:t> introduces GAN-based loss to generate more realistic textures.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33DEB-7D97-210D-C69E-6D76213CC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77CA0E-CB7A-C67E-C000-FA525468D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775" y="3559395"/>
            <a:ext cx="4877286" cy="25937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6215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DE3E0-257C-47F3-1DAD-FD2EB4727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object 16">
            <a:extLst>
              <a:ext uri="{FF2B5EF4-FFF2-40B4-BE49-F238E27FC236}">
                <a16:creationId xmlns:a16="http://schemas.microsoft.com/office/drawing/2014/main" id="{C3AA8B02-2EE7-50AF-A079-C1CA7B457B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127" y="4150609"/>
            <a:ext cx="9088015" cy="4457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9F96CC-82EB-913A-3A81-C3DCAAF2E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27" y="365940"/>
            <a:ext cx="10406743" cy="1035051"/>
          </a:xfrm>
        </p:spPr>
        <p:txBody>
          <a:bodyPr anchor="ctr">
            <a:normAutofit fontScale="90000"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0" dirty="0">
                <a:latin typeface="Calibri"/>
                <a:cs typeface="Calibri"/>
              </a:rPr>
              <a:t>     </a:t>
            </a:r>
            <a:r>
              <a:rPr lang="en-US" sz="44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Applications </a:t>
            </a:r>
            <a:r>
              <a:rPr lang="en-US" sz="4400" b="1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of</a:t>
            </a:r>
            <a:r>
              <a:rPr lang="en-US" sz="4400" b="1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Super</a:t>
            </a:r>
            <a:r>
              <a:rPr lang="en-US" sz="4400" b="1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sz="44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Resolution</a:t>
            </a:r>
            <a:br>
              <a:rPr 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</a:b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00ABF9A4-69EE-FEB4-3680-5C3FBC0E9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776" y="1191532"/>
            <a:ext cx="11099346" cy="5164818"/>
          </a:xfrm>
        </p:spPr>
        <p:txBody>
          <a:bodyPr>
            <a:normAutofit/>
          </a:bodyPr>
          <a:lstStyle/>
          <a:p>
            <a:pPr marL="363220" indent="-342900">
              <a:lnSpc>
                <a:spcPct val="100000"/>
              </a:lnSpc>
              <a:tabLst>
                <a:tab pos="262255" algn="l"/>
              </a:tabLst>
            </a:pP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</a:t>
            </a:r>
            <a:r>
              <a:rPr lang="en-US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220" indent="-342900">
              <a:lnSpc>
                <a:spcPct val="100000"/>
              </a:lnSpc>
              <a:tabLst>
                <a:tab pos="262255" algn="l"/>
              </a:tabLst>
            </a:pPr>
            <a:r>
              <a:rPr lang="en-US" sz="1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</a:t>
            </a:r>
            <a:r>
              <a:rPr lang="en-US" sz="18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1800" spc="16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220" indent="-342900">
              <a:lnSpc>
                <a:spcPct val="100000"/>
              </a:lnSpc>
              <a:tabLst>
                <a:tab pos="262255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Multimedia</a:t>
            </a:r>
            <a:r>
              <a:rPr lang="en-US" sz="18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  <a:r>
              <a:rPr lang="en-US" sz="1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r>
              <a:rPr lang="en-US" sz="1800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DF022-0CDB-A255-42CB-6E1A693F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B0F31A7A-2F6A-E69D-12D3-8BCB7DD58F5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942" y="2727121"/>
            <a:ext cx="1942571" cy="1231414"/>
          </a:xfrm>
          <a:prstGeom prst="rect">
            <a:avLst/>
          </a:prstGeom>
        </p:spPr>
      </p:pic>
      <p:pic>
        <p:nvPicPr>
          <p:cNvPr id="4" name="object 15">
            <a:extLst>
              <a:ext uri="{FF2B5EF4-FFF2-40B4-BE49-F238E27FC236}">
                <a16:creationId xmlns:a16="http://schemas.microsoft.com/office/drawing/2014/main" id="{4ACC1B96-027A-A5B6-D4D4-6781B66A484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1683" y="3127420"/>
            <a:ext cx="457200" cy="297024"/>
          </a:xfrm>
          <a:prstGeom prst="rect">
            <a:avLst/>
          </a:prstGeom>
        </p:spPr>
      </p:pic>
      <p:pic>
        <p:nvPicPr>
          <p:cNvPr id="28" name="object 5">
            <a:extLst>
              <a:ext uri="{FF2B5EF4-FFF2-40B4-BE49-F238E27FC236}">
                <a16:creationId xmlns:a16="http://schemas.microsoft.com/office/drawing/2014/main" id="{DD1F23B2-B419-019B-9CD2-E731AF32580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91950" y="2808737"/>
            <a:ext cx="1222051" cy="1231414"/>
          </a:xfrm>
          <a:prstGeom prst="rect">
            <a:avLst/>
          </a:prstGeom>
        </p:spPr>
      </p:pic>
      <p:pic>
        <p:nvPicPr>
          <p:cNvPr id="29" name="object 6">
            <a:extLst>
              <a:ext uri="{FF2B5EF4-FFF2-40B4-BE49-F238E27FC236}">
                <a16:creationId xmlns:a16="http://schemas.microsoft.com/office/drawing/2014/main" id="{8C829D3D-621C-CE67-F282-1FA87EFC869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6000" y="2808741"/>
            <a:ext cx="2004186" cy="1231414"/>
          </a:xfrm>
          <a:prstGeom prst="rect">
            <a:avLst/>
          </a:prstGeom>
        </p:spPr>
      </p:pic>
      <p:grpSp>
        <p:nvGrpSpPr>
          <p:cNvPr id="32" name="object 7">
            <a:extLst>
              <a:ext uri="{FF2B5EF4-FFF2-40B4-BE49-F238E27FC236}">
                <a16:creationId xmlns:a16="http://schemas.microsoft.com/office/drawing/2014/main" id="{8A73B57A-CAE0-615B-495A-16A9C9F42934}"/>
              </a:ext>
            </a:extLst>
          </p:cNvPr>
          <p:cNvGrpSpPr/>
          <p:nvPr/>
        </p:nvGrpSpPr>
        <p:grpSpPr>
          <a:xfrm>
            <a:off x="8258083" y="3280488"/>
            <a:ext cx="295275" cy="41275"/>
            <a:chOff x="6070600" y="2994025"/>
            <a:chExt cx="295275" cy="41275"/>
          </a:xfrm>
        </p:grpSpPr>
        <p:sp>
          <p:nvSpPr>
            <p:cNvPr id="33" name="object 8">
              <a:extLst>
                <a:ext uri="{FF2B5EF4-FFF2-40B4-BE49-F238E27FC236}">
                  <a16:creationId xmlns:a16="http://schemas.microsoft.com/office/drawing/2014/main" id="{12FE93DA-573D-8802-513E-49C8F2C71787}"/>
                </a:ext>
              </a:extLst>
            </p:cNvPr>
            <p:cNvSpPr/>
            <p:nvPr/>
          </p:nvSpPr>
          <p:spPr>
            <a:xfrm>
              <a:off x="6070600" y="3021012"/>
              <a:ext cx="295275" cy="0"/>
            </a:xfrm>
            <a:custGeom>
              <a:avLst/>
              <a:gdLst/>
              <a:ahLst/>
              <a:cxnLst/>
              <a:rect l="l" t="t" r="r" b="b"/>
              <a:pathLst>
                <a:path w="29527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ln w="285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9">
              <a:extLst>
                <a:ext uri="{FF2B5EF4-FFF2-40B4-BE49-F238E27FC236}">
                  <a16:creationId xmlns:a16="http://schemas.microsoft.com/office/drawing/2014/main" id="{C18D2611-A5B3-B1AC-796D-AFB069963D6E}"/>
                </a:ext>
              </a:extLst>
            </p:cNvPr>
            <p:cNvSpPr/>
            <p:nvPr/>
          </p:nvSpPr>
          <p:spPr>
            <a:xfrm>
              <a:off x="6070600" y="3008312"/>
              <a:ext cx="282575" cy="0"/>
            </a:xfrm>
            <a:custGeom>
              <a:avLst/>
              <a:gdLst/>
              <a:ahLst/>
              <a:cxnLst/>
              <a:rect l="l" t="t" r="r" b="b"/>
              <a:pathLst>
                <a:path w="282575">
                  <a:moveTo>
                    <a:pt x="0" y="0"/>
                  </a:moveTo>
                  <a:lnTo>
                    <a:pt x="282575" y="0"/>
                  </a:lnTo>
                </a:path>
              </a:pathLst>
            </a:custGeom>
            <a:ln w="285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11">
            <a:extLst>
              <a:ext uri="{FF2B5EF4-FFF2-40B4-BE49-F238E27FC236}">
                <a16:creationId xmlns:a16="http://schemas.microsoft.com/office/drawing/2014/main" id="{8DB28261-4694-E069-1A1E-CFA9A3C2A0AF}"/>
              </a:ext>
            </a:extLst>
          </p:cNvPr>
          <p:cNvGrpSpPr/>
          <p:nvPr/>
        </p:nvGrpSpPr>
        <p:grpSpPr>
          <a:xfrm>
            <a:off x="8698556" y="2808737"/>
            <a:ext cx="967958" cy="1231414"/>
            <a:chOff x="6464300" y="2679700"/>
            <a:chExt cx="609600" cy="622300"/>
          </a:xfrm>
        </p:grpSpPr>
        <p:pic>
          <p:nvPicPr>
            <p:cNvPr id="36" name="object 12">
              <a:extLst>
                <a:ext uri="{FF2B5EF4-FFF2-40B4-BE49-F238E27FC236}">
                  <a16:creationId xmlns:a16="http://schemas.microsoft.com/office/drawing/2014/main" id="{583430F9-8996-5792-E5C2-174E82A21DA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19900" y="3022600"/>
              <a:ext cx="254000" cy="101600"/>
            </a:xfrm>
            <a:prstGeom prst="rect">
              <a:avLst/>
            </a:prstGeom>
          </p:spPr>
        </p:pic>
        <p:pic>
          <p:nvPicPr>
            <p:cNvPr id="37" name="object 13">
              <a:extLst>
                <a:ext uri="{FF2B5EF4-FFF2-40B4-BE49-F238E27FC236}">
                  <a16:creationId xmlns:a16="http://schemas.microsoft.com/office/drawing/2014/main" id="{F43DBC52-024F-C8AF-ABFF-7D251E0602D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67500" y="3149600"/>
              <a:ext cx="406400" cy="76200"/>
            </a:xfrm>
            <a:prstGeom prst="rect">
              <a:avLst/>
            </a:prstGeom>
          </p:spPr>
        </p:pic>
        <p:pic>
          <p:nvPicPr>
            <p:cNvPr id="38" name="object 14">
              <a:extLst>
                <a:ext uri="{FF2B5EF4-FFF2-40B4-BE49-F238E27FC236}">
                  <a16:creationId xmlns:a16="http://schemas.microsoft.com/office/drawing/2014/main" id="{40368707-CF6A-F72A-B894-F6F63E0C6A2C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64300" y="2679700"/>
              <a:ext cx="609600" cy="622300"/>
            </a:xfrm>
            <a:prstGeom prst="rect">
              <a:avLst/>
            </a:prstGeom>
          </p:spPr>
        </p:pic>
      </p:grpSp>
      <p:pic>
        <p:nvPicPr>
          <p:cNvPr id="40" name="object 2">
            <a:extLst>
              <a:ext uri="{FF2B5EF4-FFF2-40B4-BE49-F238E27FC236}">
                <a16:creationId xmlns:a16="http://schemas.microsoft.com/office/drawing/2014/main" id="{93E3BB60-D99E-A7D7-E5AB-C37F183547DE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68379" y="4901950"/>
            <a:ext cx="2491245" cy="1473062"/>
          </a:xfrm>
          <a:prstGeom prst="rect">
            <a:avLst/>
          </a:prstGeom>
        </p:spPr>
      </p:pic>
      <p:pic>
        <p:nvPicPr>
          <p:cNvPr id="41" name="object 3">
            <a:extLst>
              <a:ext uri="{FF2B5EF4-FFF2-40B4-BE49-F238E27FC236}">
                <a16:creationId xmlns:a16="http://schemas.microsoft.com/office/drawing/2014/main" id="{E19C43A3-1D77-6448-4501-A650BC2529A1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20233" y="4965904"/>
            <a:ext cx="2229988" cy="144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58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D5E2-1359-353F-9DEE-42AC51B19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Data </a:t>
            </a:r>
            <a:r>
              <a:rPr lang="en-IN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7CFAE-A54D-55A5-F9A2-B41FABDE3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9373"/>
            <a:ext cx="8596668" cy="388077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 quality before model 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noise and image artifacts.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accuracy and generalization.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feature extraction and sharpness.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standardizes data, making it easier for the model to learn useful patterns and produce clearer high-resolution images.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448AB-FBA7-C817-4071-7103A4EC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AAC79-2D3A-2908-8C81-B0791869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318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1254-B04B-356B-5B16-423DC045A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N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Steps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D26F1-40A5-B4C7-3179-349C2854C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8883"/>
            <a:ext cx="8989180" cy="449248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Performed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Image Files Using A Directory Loader.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Each Image Into: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Resolution: 256×256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Resolution: 64×64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Pixel Values To [-1, 1] For Better Model Convergence.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Horizontal Flip For Data Augmentation.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Robust Training Through Variation In The Dataset.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CC5D9C-DA63-71E8-EF9F-D0F40B3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AFD54-9BB8-249C-D416-CF654F3B4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351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4EDD0-145D-CA08-3F34-3DE265FC5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Training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0F746-75CA-4904-7039-E9BB1BD3D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60" y="1810139"/>
            <a:ext cx="8676842" cy="4231223"/>
          </a:xfrm>
        </p:spPr>
        <p:txBody>
          <a:bodyPr/>
          <a:lstStyle/>
          <a:p>
            <a:pPr>
              <a:buNone/>
            </a:pPr>
            <a:r>
              <a:rPr lang="en-US" b="1" dirty="0"/>
              <a:t>Training Strategy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Load and normalize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Generator creates high-res images from low-res inputs.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Discriminator learns to classify images as real or fake.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Alternate training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Discriminator on real vs fake images.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Generator with VGG + adversarial loss.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Logs saved to </a:t>
            </a:r>
            <a:r>
              <a:rPr lang="en-US" dirty="0" err="1"/>
              <a:t>TensorBoard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Periodic saving of generated images and model weights.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934F79-2874-87ED-9847-C677B9A8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2312C-4F32-BA8D-5EF1-D37CEAD5E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340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2C346-D01C-7E69-1B66-26885E8D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46548-7B21-8C8D-8167-5CB1D515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5DB087-E4A4-9880-C00D-4943F6A57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450850"/>
            <a:ext cx="9679635" cy="6127232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 network architectures and approaches have evolved significantly in recent years because to advancements in super-resolution techniques. They are :-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PSNR</a:t>
            </a:r>
            <a:r>
              <a:rPr lang="en-US" b="0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:-Peak Signal-to-Noise Ratio (PSNR) is defined as </a:t>
            </a:r>
            <a:r>
              <a:rPr lang="en-US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ratio between the power of the signal and the power of the noise in an image</a:t>
            </a:r>
            <a:r>
              <a:rPr lang="en-US" b="0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 quality of the image with higher values representing better quality by reducing noise.</a:t>
            </a:r>
          </a:p>
          <a:p>
            <a:pPr algn="just">
              <a:buFont typeface="+mj-lt"/>
              <a:buAutoNum type="arabicPeriod"/>
            </a:pPr>
            <a:endParaRPr lang="en-US" b="0" i="0" dirty="0">
              <a:solidFill>
                <a:srgbClr val="474747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rgbClr val="4747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Bicubic</a:t>
            </a:r>
            <a:r>
              <a:rPr lang="en-US" dirty="0">
                <a:solidFill>
                  <a:srgbClr val="4747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</a:t>
            </a:r>
            <a:r>
              <a:rPr lang="en-US" b="0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Bicubic Interpolation is </a:t>
            </a:r>
            <a:r>
              <a:rPr lang="en-US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interpolation technique used to upscale or downscale images by calculating pixel values based on the surrounding pixels</a:t>
            </a:r>
          </a:p>
          <a:p>
            <a:pPr algn="just">
              <a:buFont typeface="+mj-lt"/>
              <a:buAutoNum type="arabicPeriod"/>
            </a:pPr>
            <a:endParaRPr lang="en-US" b="0" i="0" dirty="0">
              <a:solidFill>
                <a:srgbClr val="040C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dirty="0">
                <a:solidFill>
                  <a:srgbClr val="040C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SRCNN:-</a:t>
            </a:r>
            <a:r>
              <a:rPr lang="en-IN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Super-Resolution Convolutional Neural Network </a:t>
            </a:r>
            <a:r>
              <a:rPr lang="en-US" b="0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 </a:t>
            </a:r>
            <a:r>
              <a:rPr lang="en-US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deep convolutional neural network that learns end-to-end mapping of low resolution to high resolution images</a:t>
            </a:r>
            <a:r>
              <a:rPr lang="en-US" b="0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As a result, we can use it to improve the image quality of low  resolution  images.</a:t>
            </a:r>
            <a:endParaRPr lang="en-US" i="0" dirty="0">
              <a:solidFill>
                <a:srgbClr val="040C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331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70A7C-B1C4-51B3-4407-B258BF7DC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Arial Unicode MS"/>
              </a:rPr>
              <a:t>The graph of image clarity to PSNR , Bicubic , SRCN</a:t>
            </a: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BF618-5BCD-022A-90E2-789B38035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31435-6FAD-015D-6CD6-DF07777D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982019-74B7-5EF6-3B8F-F37B2D40B5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009525"/>
            <a:ext cx="8596312" cy="283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71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C7F02ED-0DF6-0177-57F7-991DEB4D4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0027" y="2300612"/>
            <a:ext cx="3035867" cy="349070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4FC55A-F6A6-F0A9-3C66-2089FA9FD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2485" y="4557388"/>
            <a:ext cx="6297612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D1DA3-690B-4240-F60D-DE816407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4C0DC4-0181-1F40-C106-76942B67F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102" y="2300612"/>
            <a:ext cx="2867915" cy="35653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312B2D-7B29-789D-301E-4C78DD4E64D0}"/>
              </a:ext>
            </a:extLst>
          </p:cNvPr>
          <p:cNvSpPr txBox="1"/>
          <p:nvPr/>
        </p:nvSpPr>
        <p:spPr>
          <a:xfrm>
            <a:off x="349823" y="510465"/>
            <a:ext cx="75998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IMAGE SUPER RESOLUTION USING DATA PREPROCESSSING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AA26ED-E323-CDC8-4B33-93AF2C2F0A63}"/>
              </a:ext>
            </a:extLst>
          </p:cNvPr>
          <p:cNvSpPr txBox="1"/>
          <p:nvPr/>
        </p:nvSpPr>
        <p:spPr>
          <a:xfrm>
            <a:off x="2892489" y="1647860"/>
            <a:ext cx="1492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BEFORE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580515-0CC6-0B51-480E-9ABD79FAE843}"/>
              </a:ext>
            </a:extLst>
          </p:cNvPr>
          <p:cNvSpPr txBox="1"/>
          <p:nvPr/>
        </p:nvSpPr>
        <p:spPr>
          <a:xfrm>
            <a:off x="6999167" y="1647860"/>
            <a:ext cx="1591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413474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8D11-217A-07CA-5442-D87B9BABF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C1A02-A6CB-8C28-EEA0-005A55BDB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1821"/>
            <a:ext cx="9623662" cy="5608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Single Image Super-Resolution (SISR) aims to enhance the resolution of low-resolution images, reconstructing high-quality, fine-detailed images from their low-resolution counterparts. This challenge has seen remarkable progress in recent years, particularly through the use of deep learning techniques like Generative Adversarial Networks (GANs). GANs have become a dominant approach for SISR because of their ability to generate high-quality, photo-realistic images, especially in scenarios requiring significant upscaling (such as 4× or higher).</a:t>
            </a:r>
          </a:p>
          <a:p>
            <a:endParaRPr lang="en-US" sz="2400" b="1" dirty="0"/>
          </a:p>
          <a:p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4C215-F113-DF66-0F50-AED4EF42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C4D27-7A7A-2EAB-DDF6-42AC02C0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38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8C174A-A635-D39E-A035-42D99638C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B4EB2F-F7AD-124D-1E60-3A7BFF13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36201-BF44-8C8C-BDDF-2A952054B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9F70BA-A595-CA79-4C5A-0164DD1085E7}"/>
              </a:ext>
            </a:extLst>
          </p:cNvPr>
          <p:cNvSpPr txBox="1"/>
          <p:nvPr/>
        </p:nvSpPr>
        <p:spPr>
          <a:xfrm>
            <a:off x="0" y="6858000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commons.wikimedia.org/wiki/File:Thank_you_icon.jpg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8605318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BB2F3B-6257-41BB-8B64-5AC7494F27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14EFF02-EA18-493C-972D-813DB244CB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ACE2AAA-C718-435C-B4E6-95A08ACAC44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2702</TotalTime>
  <Words>769</Words>
  <Application>Microsoft Office PowerPoint</Application>
  <PresentationFormat>Widescreen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Gill Sans Light</vt:lpstr>
      <vt:lpstr>Gill Sans Nova</vt:lpstr>
      <vt:lpstr>Gill Sans Nova Light</vt:lpstr>
      <vt:lpstr>Times New Roman</vt:lpstr>
      <vt:lpstr>Trebuchet MS</vt:lpstr>
      <vt:lpstr>Wingdings</vt:lpstr>
      <vt:lpstr>Wingdings 3</vt:lpstr>
      <vt:lpstr>Facet</vt:lpstr>
      <vt:lpstr>PowerPoint Presentation</vt:lpstr>
      <vt:lpstr>  INTRODUCTION</vt:lpstr>
      <vt:lpstr>Basics of Image Super-Resolution</vt:lpstr>
      <vt:lpstr>Basics of Image Super Resolution</vt:lpstr>
      <vt:lpstr>     Applications of Super Resolution </vt:lpstr>
      <vt:lpstr>Why Data PreProcessing?</vt:lpstr>
      <vt:lpstr> Data PreProcessing Steps</vt:lpstr>
      <vt:lpstr> Training the Model</vt:lpstr>
      <vt:lpstr>PowerPoint Presentation</vt:lpstr>
      <vt:lpstr>The graph of image clarity to PSNR , Bicubic , SRCN</vt:lpstr>
      <vt:lpstr>PowerPoint Presentation</vt:lpstr>
      <vt:lpstr>CONCLUSION:-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 DEPARMENTAL PROJECT</dc:title>
  <dc:creator>prannu.pasam@gmail.com</dc:creator>
  <cp:lastModifiedBy>chaitanya reddy</cp:lastModifiedBy>
  <cp:revision>26</cp:revision>
  <dcterms:created xsi:type="dcterms:W3CDTF">2023-08-23T04:07:34Z</dcterms:created>
  <dcterms:modified xsi:type="dcterms:W3CDTF">2025-05-09T15:46:55Z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